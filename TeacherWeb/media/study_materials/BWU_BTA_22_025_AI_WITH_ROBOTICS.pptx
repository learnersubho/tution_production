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CD45-69CD-1BC1-244D-3AD14705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6BC7B-BFFC-0DEF-BD35-50981DB27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E5EDC-37E3-1F4A-93B7-B3CB73A33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09203-F802-B477-E768-B76DC6F72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89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1D993-4A23-27EF-CBF6-94C91E7A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4A98D-C21E-BA54-650A-4FAE80DA7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C8B4E-B4DF-E6FF-8DA1-2113F2E37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9E81C-67E0-40EE-3732-F23FBDE1B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1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0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1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1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10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2055842"/>
            <a:ext cx="2493034" cy="297335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3894" y="3165894"/>
            <a:ext cx="1440612" cy="188329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6000750"/>
            <a:ext cx="217170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6625" y="5619750"/>
            <a:ext cx="714375" cy="857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50166" y="3271208"/>
            <a:ext cx="9057736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Topic- Depth-First Search (DFS) </a:t>
            </a:r>
            <a:r>
              <a:rPr lang="en-US" sz="3600" b="1" dirty="0">
                <a:solidFill>
                  <a:srgbClr val="FDE0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6127634" y="3827609"/>
            <a:ext cx="324353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AI with </a:t>
            </a:r>
            <a:r>
              <a:rPr lang="en-US" sz="2700" b="1" dirty="0">
                <a:solidFill>
                  <a:srgbClr val="2DD4B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Robotics</a:t>
            </a:r>
            <a:endParaRPr lang="en-US" sz="2700" dirty="0"/>
          </a:p>
        </p:txBody>
      </p:sp>
      <p:sp>
        <p:nvSpPr>
          <p:cNvPr id="12" name="Text 2"/>
          <p:cNvSpPr/>
          <p:nvPr/>
        </p:nvSpPr>
        <p:spPr>
          <a:xfrm>
            <a:off x="2329132" y="921407"/>
            <a:ext cx="9698966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/>
            <a:r>
              <a:rPr lang="en-US" sz="22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Programme</a:t>
            </a:r>
            <a:r>
              <a:rPr lang="en-US" sz="2200" b="1" dirty="0">
                <a:solidFill>
                  <a:schemeClr val="bg1"/>
                </a:solidFill>
                <a:latin typeface="Georgia" panose="02040502050405020303" pitchFamily="18" charset="0"/>
              </a:rPr>
              <a:t> name – </a:t>
            </a:r>
            <a:r>
              <a:rPr lang="en-US" sz="22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Btech</a:t>
            </a:r>
            <a:r>
              <a:rPr lang="en-US" sz="2200" b="1" dirty="0">
                <a:solidFill>
                  <a:schemeClr val="bg1"/>
                </a:solidFill>
                <a:latin typeface="Georgia" panose="02040502050405020303" pitchFamily="18" charset="0"/>
              </a:rPr>
              <a:t> CSE</a:t>
            </a:r>
            <a:endParaRPr lang="en-US" sz="22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r"/>
            <a:r>
              <a:rPr lang="en-US" sz="2200" b="1" dirty="0">
                <a:solidFill>
                  <a:schemeClr val="bg1"/>
                </a:solidFill>
                <a:latin typeface="Georgia" panose="02040502050405020303" pitchFamily="18" charset="0"/>
              </a:rPr>
              <a:t>                                            Artificial Intelligence and Machine Learning</a:t>
            </a:r>
            <a:endParaRPr lang="en-US" sz="22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r"/>
            <a:r>
              <a:rPr lang="en-US" sz="2200" b="1" dirty="0">
                <a:solidFill>
                  <a:schemeClr val="bg1"/>
                </a:solidFill>
                <a:latin typeface="Georgia" panose="02040502050405020303" pitchFamily="18" charset="0"/>
              </a:rPr>
              <a:t>                                       (OEC-CSM701A)- AI WITH ROBOTICS</a:t>
            </a:r>
            <a:endParaRPr lang="en-US" sz="2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286F04-59F2-80F8-42F6-6D5F200C3687}"/>
              </a:ext>
            </a:extLst>
          </p:cNvPr>
          <p:cNvSpPr txBox="1"/>
          <p:nvPr/>
        </p:nvSpPr>
        <p:spPr>
          <a:xfrm>
            <a:off x="7145551" y="5243825"/>
            <a:ext cx="44512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chemeClr val="bg1"/>
                </a:solidFill>
                <a:latin typeface="Gabriola" panose="04040605051002020D02" pitchFamily="82" charset="0"/>
              </a:rPr>
              <a:t>By – Ayan Roy</a:t>
            </a:r>
          </a:p>
          <a:p>
            <a:pPr algn="r"/>
            <a:r>
              <a:rPr lang="en-US" sz="3000" dirty="0">
                <a:solidFill>
                  <a:schemeClr val="bg1"/>
                </a:solidFill>
                <a:latin typeface="Gabriola" panose="04040605051002020D02" pitchFamily="82" charset="0"/>
              </a:rPr>
              <a:t>Student Code – BWU/BTA/22/025</a:t>
            </a:r>
            <a:endParaRPr lang="en-IN" sz="3000" dirty="0">
              <a:solidFill>
                <a:schemeClr val="bg1"/>
              </a:solidFill>
              <a:latin typeface="Gabriola" panose="04040605051002020D02" pitchFamily="82" charset="0"/>
            </a:endParaRPr>
          </a:p>
        </p:txBody>
      </p:sp>
      <p:pic>
        <p:nvPicPr>
          <p:cNvPr id="1026" name="Picture 2" descr="Mohammad Sozon | Researcher and Trainer Supporting Individuals">
            <a:extLst>
              <a:ext uri="{FF2B5EF4-FFF2-40B4-BE49-F238E27FC236}">
                <a16:creationId xmlns:a16="http://schemas.microsoft.com/office/drawing/2014/main" id="{FA27614A-48BD-35A8-04EC-FE3D6FDE1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699" y="-138858"/>
            <a:ext cx="1990443" cy="195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C568B5-1802-0F14-F588-31468C8742AD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74320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181100"/>
            <a:ext cx="5181600" cy="2133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1866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2209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552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2895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543300"/>
            <a:ext cx="5181600" cy="1104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 to Graph Search Algorithms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952500" y="11811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 Search Algorithms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609600" y="1600200"/>
            <a:ext cx="51816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Fundamental methods for exploring and navigating complex data structures, providing systematic approaches to problem-solving in AI.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1009650" y="2705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in Robotics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609600" y="3124200"/>
            <a:ext cx="5181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intelligent decision-making, navigation, and task execution in complex environments.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6629400" y="14097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Applications in Robotics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6896100" y="1828800"/>
            <a:ext cx="23590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 planning and navigation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6896100" y="2171700"/>
            <a:ext cx="23686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Maze solving and exploration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6896100" y="2514600"/>
            <a:ext cx="23079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planning and execution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6896100" y="2857500"/>
            <a:ext cx="21550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decision-making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6553200" y="3695700"/>
            <a:ext cx="4876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Upcoming: 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We'll explore the Depth-First Search (DFS) algorithm in detail, focusing on its implementation and applications in robotics.</a:t>
            </a:r>
            <a:endParaRPr lang="en-US" sz="13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4EA54A-222C-ED2F-6B95-D99ED9E1B398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29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429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362200"/>
            <a:ext cx="5181600" cy="3086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350" y="3009900"/>
            <a:ext cx="3086100" cy="2133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600700"/>
            <a:ext cx="51816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7912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219200"/>
            <a:ext cx="2571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638300"/>
            <a:ext cx="518160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933700"/>
            <a:ext cx="5181600" cy="1143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229100"/>
            <a:ext cx="5181600" cy="11430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DFS Algorithm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923925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Principle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609600" y="1600200"/>
            <a:ext cx="5181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"Go deep first!" 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DFS consistently follows a single path as far as possible until it reaches a dead end or destination.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762000" y="25146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Traversal Example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1066800" y="57531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 Implementation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762000" y="60960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LIFO (Last-In, First-Out) principle to keep track of nodes to visit.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6772275" y="1181100"/>
            <a:ext cx="518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Algorithmic Steps</a:t>
            </a:r>
            <a:endParaRPr lang="en-US" sz="1800" dirty="0"/>
          </a:p>
        </p:txBody>
      </p:sp>
      <p:sp>
        <p:nvSpPr>
          <p:cNvPr id="22" name="Text 7"/>
          <p:cNvSpPr/>
          <p:nvPr/>
        </p:nvSpPr>
        <p:spPr>
          <a:xfrm>
            <a:off x="6553200" y="17907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Initialization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553200" y="20955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empty stack and visited set. Push start node, mark as visited.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553200" y="30861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Iteration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6553200" y="33909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stack not empty: pop node, check goal, explore unvisited neighbors.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553200" y="43815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Backtracking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6553200" y="4686300"/>
            <a:ext cx="4876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dead end reached, backtrack to last decision point and explore alternative paths.</a:t>
            </a:r>
            <a:endParaRPr lang="en-US" sz="13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717DE7-24FA-FF31-EE76-0363AC0F7684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43000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562100"/>
            <a:ext cx="5257800" cy="990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667000"/>
            <a:ext cx="5257800" cy="2171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362325"/>
            <a:ext cx="1143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667125"/>
            <a:ext cx="1143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971925"/>
            <a:ext cx="1143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4276725"/>
            <a:ext cx="1143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100" y="4505325"/>
            <a:ext cx="1143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991100"/>
            <a:ext cx="52578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1339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1430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562100"/>
            <a:ext cx="5257800" cy="990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2667000"/>
            <a:ext cx="5257800" cy="990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3771900"/>
            <a:ext cx="5257800" cy="990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4914900"/>
            <a:ext cx="5257800" cy="1790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372100"/>
            <a:ext cx="4762500" cy="11430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Implementation and Properties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009650" y="1104900"/>
            <a:ext cx="5257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Algorithmic Steps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723900" y="16764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Initialization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723900" y="1981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an empty stack and a set for visited nodes. Push the starting node onto the stack and mark it as visited.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723900" y="27813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Iteration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723900" y="30861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the stack is not empty: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52500" y="33528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Pop a node from the top of the stack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952500" y="3657600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Check if it's the goal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952500" y="39624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each unvisited neighbor: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1181100" y="42672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Mark as visited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1181100" y="44958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Push onto the stack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933450" y="51054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b="1" dirty="0">
                <a:solidFill>
                  <a:srgbClr val="FFFF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Point: 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uses a </a:t>
            </a:r>
            <a:r>
              <a:rPr lang="en-US" sz="1050" b="1" dirty="0">
                <a:solidFill>
                  <a:srgbClr val="0080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LIFO (Last-In, First-Out) 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approach, typically managed with a stack data structure.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6667500" y="1104900"/>
            <a:ext cx="5257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Properties</a:t>
            </a:r>
            <a:endParaRPr lang="en-US" sz="1800" dirty="0"/>
          </a:p>
        </p:txBody>
      </p:sp>
      <p:sp>
        <p:nvSpPr>
          <p:cNvPr id="35" name="Text 13"/>
          <p:cNvSpPr/>
          <p:nvPr/>
        </p:nvSpPr>
        <p:spPr>
          <a:xfrm>
            <a:off x="6438900" y="16764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Principle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6438900" y="1981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"Go deep first" strategy - explores as far as possible along each branch before backtracking.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6438900" y="27813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Space Efficiency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6438900" y="30861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memory usage compared to BFS - only stores the current path from start to current node.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6438900" y="38862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Factors</a:t>
            </a:r>
            <a:endParaRPr lang="en-US" sz="1500" dirty="0"/>
          </a:p>
        </p:txBody>
      </p:sp>
      <p:sp>
        <p:nvSpPr>
          <p:cNvPr id="40" name="Text 18"/>
          <p:cNvSpPr/>
          <p:nvPr/>
        </p:nvSpPr>
        <p:spPr>
          <a:xfrm>
            <a:off x="6438900" y="41910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get trapped exploring a single path indefinitely in deep or infinite search spaces.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6438900" y="50292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Traversal Example</a:t>
            </a:r>
            <a:endParaRPr lang="en-US" sz="15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C971BA-0B09-45C4-5ADD-51B4CA16E799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95500"/>
            <a:ext cx="3505200" cy="2705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343150"/>
            <a:ext cx="472083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654" y="2514600"/>
            <a:ext cx="2571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1242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4671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810000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2095500"/>
            <a:ext cx="3505200" cy="2705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343150"/>
            <a:ext cx="486073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2161" y="25146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1242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7338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40767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2095500"/>
            <a:ext cx="3505200" cy="2705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2343150"/>
            <a:ext cx="488007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4004" y="2514600"/>
            <a:ext cx="17145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312420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3467100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3810000"/>
            <a:ext cx="171450" cy="1714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4572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Advantages of DFS in Robotics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609600" y="13335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offers several benefits that make it suitable for specific robotic tasks, particularly in memory-constrained and exploration-focused applications.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462683" y="2324100"/>
            <a:ext cx="2423517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Memory Consumption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1085850" y="3086100"/>
            <a:ext cx="29614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less memory than BFS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1085850" y="3429000"/>
            <a:ext cx="21956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stores current path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1085850" y="3771900"/>
            <a:ext cx="2800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Advantageous for embedded systems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5210473" y="2324100"/>
            <a:ext cx="2409527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Simplicity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4819650" y="3086100"/>
            <a:ext cx="2800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Recursive or stack-based implementation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4819650" y="3695700"/>
            <a:ext cx="211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Relatively easy to code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4819650" y="4038600"/>
            <a:ext cx="2800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integration into control systems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8946207" y="2324100"/>
            <a:ext cx="240759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Solutions Quickly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8553450" y="3086100"/>
            <a:ext cx="2275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finds a valid path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8553450" y="3429000"/>
            <a:ext cx="31337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Explores deeply into search space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8553450" y="3771900"/>
            <a:ext cx="2800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Useful for exploring unknown environments</a:t>
            </a:r>
            <a:endParaRPr lang="en-US" sz="13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C629E8-E599-E84B-19C5-A979E929A287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28800"/>
            <a:ext cx="3505200" cy="3505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0193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0955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314700"/>
            <a:ext cx="31242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63867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828800"/>
            <a:ext cx="3505200" cy="3505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900" y="20193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9625" y="20955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3900" y="3314700"/>
            <a:ext cx="3124200" cy="1219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900" y="46386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828800"/>
            <a:ext cx="3505200" cy="3505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7700" y="2095500"/>
            <a:ext cx="438448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8336" y="217170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7700" y="3467100"/>
            <a:ext cx="3124200" cy="1219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4791075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562600"/>
            <a:ext cx="109728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5715000"/>
            <a:ext cx="171450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 and Challenges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09600" y="13335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Despite its advantages, DFS presents critical drawbacks when applied to robotic systems: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409700" y="2095500"/>
            <a:ext cx="1965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Non-Optimality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800100" y="2628900"/>
            <a:ext cx="3124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does not guarantee finding the shortest or most optimal path.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1009650" y="4610100"/>
            <a:ext cx="3124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 result in inefficient movements in robotic navigation.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5143500" y="2095500"/>
            <a:ext cx="172235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Infinite Paths</a:t>
            </a:r>
            <a:endParaRPr lang="en-US" sz="1800" dirty="0"/>
          </a:p>
        </p:txBody>
      </p:sp>
      <p:sp>
        <p:nvSpPr>
          <p:cNvPr id="29" name="Text 6"/>
          <p:cNvSpPr/>
          <p:nvPr/>
        </p:nvSpPr>
        <p:spPr>
          <a:xfrm>
            <a:off x="4533900" y="2628900"/>
            <a:ext cx="3124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can get trapped exploring a single path indefinitely.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4743450" y="4610100"/>
            <a:ext cx="3124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Critical for real-time robot operation where timely decisions are essential.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8858548" y="2019300"/>
            <a:ext cx="253335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Shortest Path Limitation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8267700" y="2781300"/>
            <a:ext cx="3124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suitable for applications requiring the shortest path.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8477250" y="4762500"/>
            <a:ext cx="3124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Unacceptable for efficient navigation in known environments.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1047750" y="5715000"/>
            <a:ext cx="1280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robotic applications often combine DFS with other algorithms to overcome these limitations.</a:t>
            </a:r>
            <a:endParaRPr lang="en-US" sz="13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C7E865-6281-A696-D2DE-4CDDBB980015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185B-5094-13A9-7310-7E075C53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2595A15-3007-8857-0032-E49ED8EB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3328AD15-929C-4B98-B924-0F1BD1317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975" y="1856589"/>
            <a:ext cx="7362038" cy="64333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6A2916E6-3CA2-06AF-B3A9-181A2A401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6625" y="5619750"/>
            <a:ext cx="714375" cy="85725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AFBD356C-C644-6A96-3B5A-01503C4DB3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7FE9F5-8902-4EF4-64EA-6475C9E83793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2ED4A74-F699-A070-7756-BC8C788C9BEE}"/>
              </a:ext>
            </a:extLst>
          </p:cNvPr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</a:t>
            </a:r>
            <a:endParaRPr lang="en-US" sz="27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ACD231F0-450F-FEE4-520C-653D9FC121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DCAD34E4-0ED6-A774-15B6-1B1D14D91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975" y="2965159"/>
            <a:ext cx="7362038" cy="643330"/>
          </a:xfrm>
          <a:prstGeom prst="rect">
            <a:avLst/>
          </a:prstGeom>
        </p:spPr>
      </p:pic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86262BD7-B2B0-7A78-BCB9-4F78877CE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975" y="4073729"/>
            <a:ext cx="7362038" cy="6433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C8EBDE-DE73-4EDD-F03A-082B8F55C61C}"/>
              </a:ext>
            </a:extLst>
          </p:cNvPr>
          <p:cNvSpPr txBox="1"/>
          <p:nvPr/>
        </p:nvSpPr>
        <p:spPr>
          <a:xfrm>
            <a:off x="2944536" y="2004969"/>
            <a:ext cx="698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Artificial Intelligence for Robotics - Second Edition by Francis X. Govers III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AE0B3-E366-84DC-7B4B-F0457DB9FFED}"/>
              </a:ext>
            </a:extLst>
          </p:cNvPr>
          <p:cNvSpPr txBox="1"/>
          <p:nvPr/>
        </p:nvSpPr>
        <p:spPr>
          <a:xfrm>
            <a:off x="2944536" y="3102158"/>
            <a:ext cx="698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Life 3.0: Being Human in the Age of Artificial Intelligence by Max </a:t>
            </a:r>
            <a:r>
              <a:rPr lang="en-US" dirty="0" err="1">
                <a:solidFill>
                  <a:schemeClr val="bg1"/>
                </a:solidFill>
              </a:rPr>
              <a:t>Tegmark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ECA5A3-8C05-0DA1-0998-CF281E124982}"/>
              </a:ext>
            </a:extLst>
          </p:cNvPr>
          <p:cNvSpPr txBox="1"/>
          <p:nvPr/>
        </p:nvSpPr>
        <p:spPr>
          <a:xfrm>
            <a:off x="2944536" y="4068115"/>
            <a:ext cx="7362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Artificial Intelligence: A Modern Approach by Stuart Russell (British) and Peter Norvig (American)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72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DB20-01F9-8045-30D5-9B132EC1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E4F591A-9B8B-D090-A253-5BE9604E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0043430-2E27-E2D0-3868-9AEF2FAA5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371" y="220852"/>
            <a:ext cx="5519956" cy="6303318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CC394EC-C185-957C-8629-C34938FFD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106" y="1082180"/>
            <a:ext cx="3288485" cy="544199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123EEB97-7733-92F1-071A-235AE10B6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6625" y="5619750"/>
            <a:ext cx="714375" cy="85725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10CE0F1B-E72B-340F-065D-6CCFA5736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CBC52414-899A-2945-7153-CBB54678FCE2}"/>
              </a:ext>
            </a:extLst>
          </p:cNvPr>
          <p:cNvSpPr/>
          <p:nvPr/>
        </p:nvSpPr>
        <p:spPr>
          <a:xfrm>
            <a:off x="4297827" y="3231675"/>
            <a:ext cx="3596345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9500" b="1" dirty="0">
                <a:solidFill>
                  <a:srgbClr val="FDE047"/>
                </a:solidFill>
                <a:latin typeface="Gabriola" panose="04040605051002020D02" pitchFamily="82" charset="0"/>
                <a:ea typeface="Roboto" pitchFamily="34" charset="-122"/>
                <a:cs typeface="Roboto" pitchFamily="34" charset="-120"/>
              </a:rPr>
              <a:t>Thank</a:t>
            </a:r>
            <a:endParaRPr lang="en-US" sz="9500" dirty="0">
              <a:latin typeface="Gabriola" panose="04040605051002020D02" pitchFamily="82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C82734F9-8F1E-DE47-FBD0-1130EF326958}"/>
              </a:ext>
            </a:extLst>
          </p:cNvPr>
          <p:cNvSpPr/>
          <p:nvPr/>
        </p:nvSpPr>
        <p:spPr>
          <a:xfrm>
            <a:off x="6410693" y="4017124"/>
            <a:ext cx="324353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6400" b="1" dirty="0">
                <a:solidFill>
                  <a:srgbClr val="2DD4BF"/>
                </a:solidFill>
                <a:latin typeface="Gabriola" panose="04040605051002020D02" pitchFamily="82" charset="0"/>
                <a:ea typeface="Roboto" pitchFamily="34" charset="-122"/>
                <a:cs typeface="Roboto" pitchFamily="34" charset="-120"/>
              </a:rPr>
              <a:t>You</a:t>
            </a:r>
            <a:endParaRPr lang="en-US" sz="6400" dirty="0">
              <a:latin typeface="Gabriola" panose="04040605051002020D02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C4B35-17E8-E764-B65D-110CEE9373C8}"/>
              </a:ext>
            </a:extLst>
          </p:cNvPr>
          <p:cNvSpPr txBox="1"/>
          <p:nvPr/>
        </p:nvSpPr>
        <p:spPr>
          <a:xfrm>
            <a:off x="7986819" y="4239"/>
            <a:ext cx="420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EC-CSM701A:-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WITH ROBOTICS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42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660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Gabriola</vt:lpstr>
      <vt:lpstr>Georgia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Ayan Roy</cp:lastModifiedBy>
  <cp:revision>2</cp:revision>
  <dcterms:created xsi:type="dcterms:W3CDTF">2025-10-28T13:26:10Z</dcterms:created>
  <dcterms:modified xsi:type="dcterms:W3CDTF">2025-10-28T14:28:11Z</dcterms:modified>
</cp:coreProperties>
</file>